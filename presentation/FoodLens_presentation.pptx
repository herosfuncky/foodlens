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4E79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4E79"/>
                </a:solidFill>
                <a:latin typeface="Calibri"/>
              </a:rPr>
              <a:t>Perte d'entraînement (epochs observés)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Perte</c:v>
                </c:pt>
              </c:strCache>
            </c:strRef>
          </c:tx>
          <c:spPr>
            <a:solidFill>
              <a:srgbClr val="2E75B6"/>
            </a:solidFill>
            <a:ln w="3810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4E79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Epoch 1</c:v>
                  </c:pt>
                  <c:pt idx="1">
                    <c:v>Epoch 2</c:v>
                  </c:pt>
                  <c:pt idx="2">
                    <c:v>Epoch 3</c:v>
                  </c:pt>
                  <c:pt idx="3">
                    <c:v>Epoch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1.55</c:v>
                </c:pt>
                <c:pt idx="1">
                  <c:v>1.1</c:v>
                </c:pt>
                <c:pt idx="2">
                  <c:v>0.91</c:v>
                </c:pt>
                <c:pt idx="3">
                  <c:v>0.75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4E79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Titre (~30s). Se présenter, annoncer FoodLens : analyser une assiette par photo. Annoncer le plan : problème, architecture, démo.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Contexte (~1min). Motiver : compter les calories à la main est pénible et peu fiable ; enjeu allergènes. FoodLens = une photo suffit.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(~1min). Le fil rouge du cours : couvrir les 4 capacités Azure. Les nommer une à 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(~2min). Slide clé. Expliquer le flux Azure (haut), puis l'export vers l'edge (bas) : même app, CV en conteneur local, modèle en fichier. Insister sur le miroir Azure/Edge.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(~1min30). Détailler la cascade CV→ML→Agent→Nutrition. Insister sur les garde-fous : c'est ce qui rend le système fiable malgré un modèle imparfait.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Modèle ML (~1min30). Transfer learning ResNet18, 20 classes stratifiées, augmentation. Montrer la courbe de perte qui descend. Mentionner le déploiement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Défis (~2min). Raconter les 3 bugs comme une histoire : symptôme spectaculaire → cause racine → correction. C'est le moment le plus vivant.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Online/Offline (~1min). La capacité Edge : même code, une variable bascule cloud↔conteneur local. Fonctionne sans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(~2-3min). Lancer l'app : photographier/uploader un plat (apple pie, caesar salad ou chicken curry), montrer macros + allergènes + conseil.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Limites (~1min). Être lucide : 20 classes, cuisine US, pas de portion, un plat, coût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Améliorations (~1min). Montrer qu'on sait où aller : 101 classes, portions, YOLO, agent cloud, coûts.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(~45s). Récapituler l'argument : 4/4 capacités, robustesse, cloud+edge, tout conteneurisé. Laisser cette slide pendant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Merci / Références. Ouvrir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FoodLens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2971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nutritionnelle par photo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  ·   Machine Learning   ·   Edge   ·   Agent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5257800"/>
            <a:ext cx="27432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Azure · EPITA SCIA · 2026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F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[Vos noms]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Compter les calories à la main est fastidieux et imprécis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manuelle longue et rébarbative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nutritionnelles peu accessibles au moment du repas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réel pour les personnes allergiques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949440" y="1554480"/>
            <a:ext cx="4690872" cy="3566160"/>
          </a:xfrm>
          <a:prstGeom prst="roundRect">
            <a:avLst>
              <a:gd name="adj" fmla="val 2051"/>
            </a:avLst>
          </a:prstGeom>
          <a:solidFill>
            <a:srgbClr val="EAF2FB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promesse FoodLens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23760" y="2331720"/>
            <a:ext cx="4160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photo →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 identifié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 et macros estimées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allergènes détectés selon le profil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nutritionnel personnalisé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FoodLens · Projet Azure · EPITA SCIA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FoodLens couvre les 4 capacités Azure dans un seul produit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66944" cy="2057400"/>
          </a:xfrm>
          <a:prstGeom prst="roundRect">
            <a:avLst>
              <a:gd name="adj" fmla="val 2667"/>
            </a:avLst>
          </a:prstGeom>
          <a:solidFill>
            <a:srgbClr val="F4F6F9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72768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COGNITIVE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0299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Computer Vision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718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visuels décrivant la photo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73368" y="1371600"/>
            <a:ext cx="5266944" cy="2057400"/>
          </a:xfrm>
          <a:prstGeom prst="roundRect">
            <a:avLst>
              <a:gd name="adj" fmla="val 2667"/>
            </a:avLst>
          </a:prstGeom>
          <a:solidFill>
            <a:srgbClr val="F4F6F9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47688" y="1572768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MACHINE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47688" y="20299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— endpoint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47688" y="2651760"/>
            <a:ext cx="4718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Classifieur ResNet18 sur Food-101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266944" cy="2057400"/>
          </a:xfrm>
          <a:prstGeom prst="roundRect">
            <a:avLst>
              <a:gd name="adj" fmla="val 2667"/>
            </a:avLst>
          </a:prstGeom>
          <a:solidFill>
            <a:srgbClr val="F4F6F9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904488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EDGE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36168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Container Registry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22960" y="4983480"/>
            <a:ext cx="4718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conteneurisée, Computer Vision en local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73368" y="3703320"/>
            <a:ext cx="5266944" cy="2057400"/>
          </a:xfrm>
          <a:prstGeom prst="roundRect">
            <a:avLst>
              <a:gd name="adj" fmla="val 2667"/>
            </a:avLst>
          </a:prstGeom>
          <a:solidFill>
            <a:srgbClr val="F4F6F9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47688" y="3904488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AGENTIC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47688" y="436168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Qwen3 (LM Studio)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647688" y="4983480"/>
            <a:ext cx="4718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l'aliment, détecte allergènes, conseille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FoodLens · Projet Azure · EPITA SCIA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même app tourne en cloud Azure et en local (edge)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325880" y="1051560"/>
            <a:ext cx="9372600" cy="2331720"/>
          </a:xfrm>
          <a:prstGeom prst="roundRect">
            <a:avLst>
              <a:gd name="adj" fmla="val 1961"/>
            </a:avLst>
          </a:prstGeom>
          <a:solidFill>
            <a:srgbClr val="EAF2FB"/>
          </a:solidFill>
          <a:ln w="15875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1051560"/>
            <a:ext cx="937260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051560"/>
            <a:ext cx="9372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 (Cloud)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83080" y="196596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83080" y="1965960"/>
            <a:ext cx="1417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196596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03320" y="1965960"/>
            <a:ext cx="1417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1536192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18120" y="1536192"/>
            <a:ext cx="2468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2724912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18120" y="2724912"/>
            <a:ext cx="2468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Food-101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03320" y="2697480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03320" y="2697480"/>
            <a:ext cx="169164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Qwen3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240280"/>
            <a:ext cx="502920" cy="91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5120640" y="1783080"/>
            <a:ext cx="2697480" cy="36576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85216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2331720"/>
            <a:ext cx="2697480" cy="54864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85216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4840" y="2514600"/>
            <a:ext cx="91" cy="18288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715000" y="3429000"/>
            <a:ext cx="640080" cy="502920"/>
          </a:xfrm>
          <a:prstGeom prst="down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474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:  modèle CV → image Docker   ·   modèle ML → fichier .pt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25880" y="4023360"/>
            <a:ext cx="9372600" cy="2194560"/>
          </a:xfrm>
          <a:prstGeom prst="roundRect">
            <a:avLst>
              <a:gd name="adj" fmla="val 2083"/>
            </a:avLst>
          </a:prstGeom>
          <a:solidFill>
            <a:srgbClr val="E8F3F0"/>
          </a:solidFill>
          <a:ln w="15875">
            <a:solidFill>
              <a:srgbClr val="2C7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5880" y="4023360"/>
            <a:ext cx="9372600" cy="310896"/>
          </a:xfrm>
          <a:prstGeom prst="roundRect">
            <a:avLst>
              <a:gd name="adj" fmla="val 14706"/>
            </a:avLst>
          </a:prstGeom>
          <a:solidFill>
            <a:srgbClr val="2C7A6B"/>
          </a:solidFill>
          <a:ln w="12700">
            <a:solidFill>
              <a:srgbClr val="2C7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4023360"/>
            <a:ext cx="9372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 (Local — docker compose up)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783080" y="470916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C7A6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783080" y="4709160"/>
            <a:ext cx="1417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03320" y="470916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C7A6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03320" y="4709160"/>
            <a:ext cx="1417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18120" y="4370832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2C7A6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818120" y="4370832"/>
            <a:ext cx="2468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Container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18120" y="544068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2C7A6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818120" y="5440680"/>
            <a:ext cx="2468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ML (.pt)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703320" y="544068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2C7A6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703320" y="5440680"/>
            <a:ext cx="1691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LM Studio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4983480"/>
            <a:ext cx="502920" cy="91"/>
          </a:xfrm>
          <a:prstGeom prst="line">
            <a:avLst/>
          </a:prstGeom>
          <a:noFill/>
          <a:ln w="19050">
            <a:solidFill>
              <a:srgbClr val="2C7A6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5120640" y="4617720"/>
            <a:ext cx="2697480" cy="274320"/>
          </a:xfrm>
          <a:prstGeom prst="line">
            <a:avLst/>
          </a:prstGeom>
          <a:noFill/>
          <a:ln w="19050">
            <a:solidFill>
              <a:srgbClr val="2C7A6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120640" y="5074920"/>
            <a:ext cx="2697480" cy="594360"/>
          </a:xfrm>
          <a:prstGeom prst="line">
            <a:avLst/>
          </a:prstGeom>
          <a:noFill/>
          <a:ln w="19050">
            <a:solidFill>
              <a:srgbClr val="2C7A6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434840" y="5257800"/>
            <a:ext cx="91" cy="182880"/>
          </a:xfrm>
          <a:prstGeom prst="line">
            <a:avLst/>
          </a:prstGeom>
          <a:noFill/>
          <a:ln w="19050">
            <a:solidFill>
              <a:srgbClr val="2C7A6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20040" y="196596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234440" y="2240280"/>
            <a:ext cx="548640" cy="91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20040" y="470916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C7A6B"/>
          </a:solidFill>
          <a:ln w="15875">
            <a:solidFill>
              <a:srgbClr val="2C7A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709160"/>
            <a:ext cx="914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234440" y="4983480"/>
            <a:ext cx="548640" cy="91"/>
          </a:xfrm>
          <a:prstGeom prst="line">
            <a:avLst/>
          </a:prstGeom>
          <a:noFill/>
          <a:ln w="19050">
            <a:solidFill>
              <a:srgbClr val="2C7A6B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835640" y="1737360"/>
            <a:ext cx="1051560" cy="64008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835640" y="1737360"/>
            <a:ext cx="10515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 flipH="1" flipV="1">
            <a:off x="10287000" y="1920240"/>
            <a:ext cx="548640" cy="137160"/>
          </a:xfrm>
          <a:prstGeom prst="line">
            <a:avLst/>
          </a:prstGeom>
          <a:noFill/>
          <a:ln w="19050">
            <a:solidFill>
              <a:srgbClr val="1F4E79"/>
            </a:solidFill>
            <a:prstDash val="dash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914400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 (Food-101)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FoodLens · Projet Azure · EPITA SCIA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photo traverse 4 services en cascade avec garde-fous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084832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737360"/>
            <a:ext cx="208483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642616" y="2423160"/>
            <a:ext cx="182880" cy="91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834640" y="1737360"/>
            <a:ext cx="2084832" cy="13716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34640" y="1737360"/>
            <a:ext cx="208483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CV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de l'image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28616" y="2423160"/>
            <a:ext cx="182880" cy="91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20640" y="1737360"/>
            <a:ext cx="2084832" cy="13716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737360"/>
            <a:ext cx="208483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Food-101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14616" y="2423160"/>
            <a:ext cx="182880" cy="91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06640" y="1737360"/>
            <a:ext cx="2084832" cy="1371600"/>
          </a:xfrm>
          <a:prstGeom prst="roundRect">
            <a:avLst>
              <a:gd name="adj" fmla="val 4000"/>
            </a:avLst>
          </a:prstGeom>
          <a:solidFill>
            <a:srgbClr val="E8F3F0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06640" y="1737360"/>
            <a:ext cx="208483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Qwen3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+ allergènes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500616" y="2423160"/>
            <a:ext cx="182880" cy="91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92640" y="1737360"/>
            <a:ext cx="2084832" cy="1371600"/>
          </a:xfrm>
          <a:prstGeom prst="roundRect">
            <a:avLst>
              <a:gd name="adj" fmla="val 4000"/>
            </a:avLst>
          </a:prstGeom>
          <a:solidFill>
            <a:srgbClr val="E8F3F0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92640" y="1737360"/>
            <a:ext cx="208483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+ USDA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1109167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garde-fous qui évitent les aberrations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429768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ML rejeté s'il n'est pas corroboré par les tags CV (ex : tarte classée « bibimbap 100 % »)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Atwater : on rejette toute valeur nutritionnelle où kcal ≠ protéines×4 + glucides×4 + lipides×9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statique fiable pour les 20 classes, l'API USDA ne sert que de repli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FoodLens · Projet Azure · EPITA SCIA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ResNet18 ré-entraîné par transfer learning sur 20 classes Food-101</a:t>
            </a:r>
            <a:endParaRPr lang="en-US" sz="2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629400" y="155448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modèle a été entraîné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depuis ResNet18 pré-entraîné (ImageNet)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classes × 300 images, échantillonnage stratifié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: crop, flip, variation de couleur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epochs sur un cluster de calcul Azure ML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 en online endpoint managé Azure ML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58064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: Food-101 (Bossard et al., 2014)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FoodLens · Projet Azure · EPITA SCIA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bugs critiques ont failli fausser toutes les prédictions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1481328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17904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Tarte aux pommes → bibimbap 100 % 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35040" y="1600200"/>
            <a:ext cx="0" cy="1024128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0" y="1517904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L'échantillonnage naïf (4000 premières images) n'entraînait que 5 classes sur 20.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Échantillonnage stratifié : 300 images par classe, 20 classes équilibrées.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091672" cy="1481328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118104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Azure ML : erreur 424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35040" y="3200400"/>
            <a:ext cx="0" cy="1024128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3118104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 de versions torch / numpy 2.x → plantage à chaque inférence.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Épinglage numpy &lt; 2 dans l'environnement conda du déploiement.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1091672" cy="1481328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718304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qui tourne en boucle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35040" y="4800600"/>
            <a:ext cx="0" cy="1024128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718304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résolvait localhost en IPv6 (::1) et restait bloqué.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IPv4 explicite (127.0.0.1) dans docker-compose.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FoodLens · Projet Azure · EPITA SCIA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Computer Vision tourne en cloud ou en conteneur Docker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3291840"/>
          </a:xfrm>
          <a:prstGeom prst="roundRect">
            <a:avLst>
              <a:gd name="adj" fmla="val 1944"/>
            </a:avLst>
          </a:prstGeom>
          <a:solidFill>
            <a:srgbClr val="EAF2FB"/>
          </a:solidFill>
          <a:ln w="1587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— Azure Cloud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de l'API Azure Computer Vision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hébergée dans le cloud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une connexion internet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USE_OFFLINE_CV = false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45352" y="1463040"/>
            <a:ext cx="5394960" cy="3291840"/>
          </a:xfrm>
          <a:prstGeom prst="roundRect">
            <a:avLst>
              <a:gd name="adj" fmla="val 1944"/>
            </a:avLst>
          </a:prstGeom>
          <a:solidFill>
            <a:srgbClr val="E8F3F0"/>
          </a:solidFill>
          <a:ln w="15875">
            <a:solidFill>
              <a:srgbClr val="2C7A6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19672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Edge / Docker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65392" y="22402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 Cognitive Services en local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image 100 % locale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même sans internet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USE_OFFLINE_CV = true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983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variable d'environnement fait basculer tout le pipeline — le code du backend est identique dans les deux modes.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FoodLens · Projet Azure · EPITA SCIA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photo au conseil nutritionnel, en direct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737360" y="416052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2A5A8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37360" y="4160520"/>
            <a:ext cx="28346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Photographier un plat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416052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2A5A8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4160520"/>
            <a:ext cx="28346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Analyse automatique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416052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2A5A8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4160520"/>
            <a:ext cx="28346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Macros, allergènes &amp; conseil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classes et une cuisine américaine limitent la couverture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des 101 classes de Food-101 seulement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Food-101 = cuisine américaine → les plats français sont hors distribution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= valeurs moyennes pour 100 g, sans estimation de la portion réelle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plat par photo (classification, pas de détection multi-objets)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L'endpoint ML managé est facturé en continu (VM allumée 24/7)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FoodLens · Projet Azure · EPITA SCIA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pistes claires pour passer du prototype au produit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17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38328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les 101 classes + fine-tuning sur des plats français (base CIQUAL)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3957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383280" y="23957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Estimer le poids réel (objet de référence ou profondeur) pour des kcal justes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74136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374136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3374136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d'une classification à une détection d'objets (type YOLO)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352544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352544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cloud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83280" y="4352544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Déplacer l'agent vers Azure OpenAI / AI Foundry (cloud-native)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330952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4F6F9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533095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383280" y="533095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scale-to-zero ou inférence batch hors démo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FoodLens · Projet Azure · EPITA SCIA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FoodLens : un pipeline robuste couvrant les 4 capacités Azure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7863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capacités livrées et intégrées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par garde-fous : label ML validé, cohérence Atwater, dataset fiable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en cloud Azure et en local (edge) via une seule variable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conteneurisé : docker compose up lance l'ensemble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32520" y="1737360"/>
            <a:ext cx="2907792" cy="3291840"/>
          </a:xfrm>
          <a:prstGeom prst="roundRect">
            <a:avLst>
              <a:gd name="adj" fmla="val 2516"/>
            </a:avLst>
          </a:prstGeom>
          <a:solidFill>
            <a:srgbClr val="EAF2FB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214884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732520" y="329184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Azure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FoodLens · Projet Azure · EPITA SCIA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Questions 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Food-101 — Bossard, Guillaumin &amp; Van Gool (ECCV 2014)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Machine Learning — managed online endpoints (Microsoft Docs)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Cognitive Services — Computer Vision containers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 FoodData Central — base nutritionnelle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(Alibaba) — modèle d'agent, exécuté via LM Studio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: github.com/[votre-repo]   ·   Contact : [email]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FoodLens - Analyse nutritionnelle par photo</dc:title>
  <dc:subject>PptxGenJS Presentation</dc:subject>
  <dc:creator>Equipe FoodLens</dc:creator>
  <cp:lastModifiedBy>Equipe FoodLens</cp:lastModifiedBy>
  <cp:revision>1</cp:revision>
  <dcterms:created xsi:type="dcterms:W3CDTF">2026-07-05T07:53:17Z</dcterms:created>
  <dcterms:modified xsi:type="dcterms:W3CDTF">2026-07-05T07:53:17Z</dcterms:modified>
</cp:coreProperties>
</file>